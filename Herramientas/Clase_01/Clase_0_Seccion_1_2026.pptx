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82" r:id="rId4"/>
    <p:sldId id="259" r:id="rId5"/>
    <p:sldId id="260" r:id="rId6"/>
    <p:sldId id="261" r:id="rId7"/>
    <p:sldId id="269" r:id="rId8"/>
    <p:sldId id="277" r:id="rId9"/>
    <p:sldId id="262" r:id="rId10"/>
    <p:sldId id="268" r:id="rId11"/>
    <p:sldId id="266" r:id="rId12"/>
    <p:sldId id="283" r:id="rId13"/>
    <p:sldId id="271" r:id="rId14"/>
    <p:sldId id="278" r:id="rId15"/>
    <p:sldId id="274" r:id="rId16"/>
    <p:sldId id="275" r:id="rId17"/>
    <p:sldId id="284" r:id="rId18"/>
    <p:sldId id="272" r:id="rId19"/>
    <p:sldId id="273" r:id="rId20"/>
    <p:sldId id="280" r:id="rId21"/>
    <p:sldId id="281" r:id="rId22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733"/>
  </p:normalViewPr>
  <p:slideViewPr>
    <p:cSldViewPr snapToGrid="0">
      <p:cViewPr varScale="1">
        <p:scale>
          <a:sx n="103" d="100"/>
          <a:sy n="103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Godoy Vega" userId="8ff8ac667e8c0c4e" providerId="LiveId" clId="{0C67944C-6558-A548-B6FD-C08A7A96B592}"/>
    <pc:docChg chg="custSel modSld">
      <pc:chgData name="Eduardo Godoy Vega" userId="8ff8ac667e8c0c4e" providerId="LiveId" clId="{0C67944C-6558-A548-B6FD-C08A7A96B592}" dt="2025-02-13T16:09:38.128" v="29" actId="729"/>
      <pc:docMkLst>
        <pc:docMk/>
      </pc:docMkLst>
      <pc:sldChg chg="addSp delSp modSp mod">
        <pc:chgData name="Eduardo Godoy Vega" userId="8ff8ac667e8c0c4e" providerId="LiveId" clId="{0C67944C-6558-A548-B6FD-C08A7A96B592}" dt="2025-02-13T16:09:04.063" v="28" actId="20577"/>
        <pc:sldMkLst>
          <pc:docMk/>
          <pc:sldMk cId="159063885" sldId="258"/>
        </pc:sldMkLst>
        <pc:spChg chg="mod">
          <ac:chgData name="Eduardo Godoy Vega" userId="8ff8ac667e8c0c4e" providerId="LiveId" clId="{0C67944C-6558-A548-B6FD-C08A7A96B592}" dt="2025-02-13T16:09:04.063" v="28" actId="20577"/>
          <ac:spMkLst>
            <pc:docMk/>
            <pc:sldMk cId="159063885" sldId="258"/>
            <ac:spMk id="3" creationId="{0C91C43F-F174-BB12-6854-D1039C076E6A}"/>
          </ac:spMkLst>
        </pc:spChg>
        <pc:spChg chg="add mod">
          <ac:chgData name="Eduardo Godoy Vega" userId="8ff8ac667e8c0c4e" providerId="LiveId" clId="{0C67944C-6558-A548-B6FD-C08A7A96B592}" dt="2025-02-13T16:09:00.966" v="27" actId="1076"/>
          <ac:spMkLst>
            <pc:docMk/>
            <pc:sldMk cId="159063885" sldId="258"/>
            <ac:spMk id="5" creationId="{0585A9D6-8B30-2A80-3426-F175C32ADAB9}"/>
          </ac:spMkLst>
        </pc:spChg>
        <pc:picChg chg="add mod">
          <ac:chgData name="Eduardo Godoy Vega" userId="8ff8ac667e8c0c4e" providerId="LiveId" clId="{0C67944C-6558-A548-B6FD-C08A7A96B592}" dt="2025-02-13T16:08:58.368" v="26" actId="1076"/>
          <ac:picMkLst>
            <pc:docMk/>
            <pc:sldMk cId="159063885" sldId="258"/>
            <ac:picMk id="4" creationId="{963931C1-32E1-846C-5E8B-F98D1BACBF87}"/>
          </ac:picMkLst>
        </pc:picChg>
      </pc:sldChg>
      <pc:sldChg chg="addSp modSp mod">
        <pc:chgData name="Eduardo Godoy Vega" userId="8ff8ac667e8c0c4e" providerId="LiveId" clId="{0C67944C-6558-A548-B6FD-C08A7A96B592}" dt="2025-02-13T16:01:09.649" v="15" actId="207"/>
        <pc:sldMkLst>
          <pc:docMk/>
          <pc:sldMk cId="1410315926" sldId="262"/>
        </pc:sldMkLst>
        <pc:spChg chg="add mod">
          <ac:chgData name="Eduardo Godoy Vega" userId="8ff8ac667e8c0c4e" providerId="LiveId" clId="{0C67944C-6558-A548-B6FD-C08A7A96B592}" dt="2025-02-13T16:01:09.649" v="15" actId="207"/>
          <ac:spMkLst>
            <pc:docMk/>
            <pc:sldMk cId="1410315926" sldId="262"/>
            <ac:spMk id="5" creationId="{0E9C68FF-A253-9E6E-9270-A01B7AB7B55B}"/>
          </ac:spMkLst>
        </pc:spChg>
      </pc:sldChg>
      <pc:sldChg chg="mod modShow">
        <pc:chgData name="Eduardo Godoy Vega" userId="8ff8ac667e8c0c4e" providerId="LiveId" clId="{0C67944C-6558-A548-B6FD-C08A7A96B592}" dt="2025-02-13T16:09:38.128" v="29" actId="729"/>
        <pc:sldMkLst>
          <pc:docMk/>
          <pc:sldMk cId="1882004654" sldId="264"/>
        </pc:sldMkLst>
      </pc:sldChg>
    </pc:docChg>
  </pc:docChgLst>
  <pc:docChgLst>
    <pc:chgData name="Eduardo Godoy Vega" userId="8ff8ac667e8c0c4e" providerId="LiveId" clId="{8BA9BC9A-7A56-9F4C-9265-3089105DBA35}"/>
    <pc:docChg chg="undo custSel addSld modSld">
      <pc:chgData name="Eduardo Godoy Vega" userId="8ff8ac667e8c0c4e" providerId="LiveId" clId="{8BA9BC9A-7A56-9F4C-9265-3089105DBA35}" dt="2024-03-11T19:41:09.944" v="583" actId="20577"/>
      <pc:docMkLst>
        <pc:docMk/>
      </pc:docMkLst>
      <pc:sldChg chg="modSp new mod">
        <pc:chgData name="Eduardo Godoy Vega" userId="8ff8ac667e8c0c4e" providerId="LiveId" clId="{8BA9BC9A-7A56-9F4C-9265-3089105DBA35}" dt="2024-03-11T18:59:25.951" v="80" actId="20577"/>
        <pc:sldMkLst>
          <pc:docMk/>
          <pc:sldMk cId="1676644802" sldId="270"/>
        </pc:sldMkLst>
      </pc:sldChg>
      <pc:sldChg chg="addSp modSp new mod modAnim">
        <pc:chgData name="Eduardo Godoy Vega" userId="8ff8ac667e8c0c4e" providerId="LiveId" clId="{8BA9BC9A-7A56-9F4C-9265-3089105DBA35}" dt="2024-03-11T19:38:19.160" v="549" actId="20577"/>
        <pc:sldMkLst>
          <pc:docMk/>
          <pc:sldMk cId="1127244894" sldId="271"/>
        </pc:sldMkLst>
      </pc:sldChg>
      <pc:sldChg chg="addSp modSp new mod">
        <pc:chgData name="Eduardo Godoy Vega" userId="8ff8ac667e8c0c4e" providerId="LiveId" clId="{8BA9BC9A-7A56-9F4C-9265-3089105DBA35}" dt="2024-03-11T19:15:54.916" v="487" actId="20577"/>
        <pc:sldMkLst>
          <pc:docMk/>
          <pc:sldMk cId="3364527236" sldId="272"/>
        </pc:sldMkLst>
      </pc:sldChg>
      <pc:sldChg chg="addSp delSp modSp new mod">
        <pc:chgData name="Eduardo Godoy Vega" userId="8ff8ac667e8c0c4e" providerId="LiveId" clId="{8BA9BC9A-7A56-9F4C-9265-3089105DBA35}" dt="2024-03-11T19:20:45.956" v="542" actId="1076"/>
        <pc:sldMkLst>
          <pc:docMk/>
          <pc:sldMk cId="668339035" sldId="273"/>
        </pc:sldMkLst>
      </pc:sldChg>
      <pc:sldChg chg="modSp add mod">
        <pc:chgData name="Eduardo Godoy Vega" userId="8ff8ac667e8c0c4e" providerId="LiveId" clId="{8BA9BC9A-7A56-9F4C-9265-3089105DBA35}" dt="2024-03-11T19:36:51.978" v="545" actId="20577"/>
        <pc:sldMkLst>
          <pc:docMk/>
          <pc:sldMk cId="2084088346" sldId="274"/>
        </pc:sldMkLst>
      </pc:sldChg>
      <pc:sldChg chg="modSp add mod">
        <pc:chgData name="Eduardo Godoy Vega" userId="8ff8ac667e8c0c4e" providerId="LiveId" clId="{8BA9BC9A-7A56-9F4C-9265-3089105DBA35}" dt="2024-03-11T19:36:28.722" v="544" actId="27636"/>
        <pc:sldMkLst>
          <pc:docMk/>
          <pc:sldMk cId="2804571870" sldId="275"/>
        </pc:sldMkLst>
      </pc:sldChg>
      <pc:sldChg chg="addSp delSp modSp new mod">
        <pc:chgData name="Eduardo Godoy Vega" userId="8ff8ac667e8c0c4e" providerId="LiveId" clId="{8BA9BC9A-7A56-9F4C-9265-3089105DBA35}" dt="2024-03-11T19:41:09.944" v="583" actId="20577"/>
        <pc:sldMkLst>
          <pc:docMk/>
          <pc:sldMk cId="831786771" sldId="276"/>
        </pc:sldMkLst>
      </pc:sldChg>
    </pc:docChg>
  </pc:docChgLst>
  <pc:docChgLst>
    <pc:chgData name="Eduardo Godoy Vega" userId="8ff8ac667e8c0c4e" providerId="LiveId" clId="{658F9985-EAE3-6C41-9171-A4B8821EAA63}"/>
    <pc:docChg chg="custSel addSld modSld sldOrd">
      <pc:chgData name="Eduardo Godoy Vega" userId="8ff8ac667e8c0c4e" providerId="LiveId" clId="{658F9985-EAE3-6C41-9171-A4B8821EAA63}" dt="2025-03-10T16:55:46.450" v="820" actId="27636"/>
      <pc:docMkLst>
        <pc:docMk/>
      </pc:docMkLst>
      <pc:sldChg chg="modSp mod">
        <pc:chgData name="Eduardo Godoy Vega" userId="8ff8ac667e8c0c4e" providerId="LiveId" clId="{658F9985-EAE3-6C41-9171-A4B8821EAA63}" dt="2025-03-10T16:48:15.964" v="2" actId="20577"/>
        <pc:sldMkLst>
          <pc:docMk/>
          <pc:sldMk cId="1281296939" sldId="261"/>
        </pc:sldMkLst>
        <pc:spChg chg="mod">
          <ac:chgData name="Eduardo Godoy Vega" userId="8ff8ac667e8c0c4e" providerId="LiveId" clId="{658F9985-EAE3-6C41-9171-A4B8821EAA63}" dt="2025-03-10T16:48:15.964" v="2" actId="20577"/>
          <ac:spMkLst>
            <pc:docMk/>
            <pc:sldMk cId="1281296939" sldId="261"/>
            <ac:spMk id="5" creationId="{64AA397A-3885-2EE0-5505-BA6AA7661787}"/>
          </ac:spMkLst>
        </pc:spChg>
      </pc:sldChg>
      <pc:sldChg chg="delSp modSp mod ord">
        <pc:chgData name="Eduardo Godoy Vega" userId="8ff8ac667e8c0c4e" providerId="LiveId" clId="{658F9985-EAE3-6C41-9171-A4B8821EAA63}" dt="2025-03-10T16:55:20.428" v="794" actId="20578"/>
        <pc:sldMkLst>
          <pc:docMk/>
          <pc:sldMk cId="1410315926" sldId="262"/>
        </pc:sldMkLst>
        <pc:spChg chg="del">
          <ac:chgData name="Eduardo Godoy Vega" userId="8ff8ac667e8c0c4e" providerId="LiveId" clId="{658F9985-EAE3-6C41-9171-A4B8821EAA63}" dt="2025-03-10T16:55:05.764" v="793" actId="478"/>
          <ac:spMkLst>
            <pc:docMk/>
            <pc:sldMk cId="1410315926" sldId="262"/>
            <ac:spMk id="5" creationId="{0E9C68FF-A253-9E6E-9270-A01B7AB7B55B}"/>
          </ac:spMkLst>
        </pc:spChg>
        <pc:spChg chg="mod">
          <ac:chgData name="Eduardo Godoy Vega" userId="8ff8ac667e8c0c4e" providerId="LiveId" clId="{658F9985-EAE3-6C41-9171-A4B8821EAA63}" dt="2025-03-10T16:55:01.903" v="792" actId="27636"/>
          <ac:spMkLst>
            <pc:docMk/>
            <pc:sldMk cId="1410315926" sldId="262"/>
            <ac:spMk id="11" creationId="{53E50D52-6368-DFCE-A58B-6B5AD1003600}"/>
          </ac:spMkLst>
        </pc:spChg>
      </pc:sldChg>
      <pc:sldChg chg="modSp mod">
        <pc:chgData name="Eduardo Godoy Vega" userId="8ff8ac667e8c0c4e" providerId="LiveId" clId="{658F9985-EAE3-6C41-9171-A4B8821EAA63}" dt="2025-03-10T16:50:02.202" v="313" actId="20577"/>
        <pc:sldMkLst>
          <pc:docMk/>
          <pc:sldMk cId="4071488919" sldId="269"/>
        </pc:sldMkLst>
        <pc:spChg chg="mod">
          <ac:chgData name="Eduardo Godoy Vega" userId="8ff8ac667e8c0c4e" providerId="LiveId" clId="{658F9985-EAE3-6C41-9171-A4B8821EAA63}" dt="2025-03-10T16:50:02.202" v="313" actId="20577"/>
          <ac:spMkLst>
            <pc:docMk/>
            <pc:sldMk cId="4071488919" sldId="269"/>
            <ac:spMk id="3" creationId="{4349F9EE-C218-6923-3223-0DFEBDE55048}"/>
          </ac:spMkLst>
        </pc:spChg>
      </pc:sldChg>
      <pc:sldChg chg="modSp add mod">
        <pc:chgData name="Eduardo Godoy Vega" userId="8ff8ac667e8c0c4e" providerId="LiveId" clId="{658F9985-EAE3-6C41-9171-A4B8821EAA63}" dt="2025-03-10T16:55:46.450" v="820" actId="27636"/>
        <pc:sldMkLst>
          <pc:docMk/>
          <pc:sldMk cId="2235416667" sldId="277"/>
        </pc:sldMkLst>
        <pc:spChg chg="mod">
          <ac:chgData name="Eduardo Godoy Vega" userId="8ff8ac667e8c0c4e" providerId="LiveId" clId="{658F9985-EAE3-6C41-9171-A4B8821EAA63}" dt="2025-03-10T16:50:12.908" v="331" actId="20577"/>
          <ac:spMkLst>
            <pc:docMk/>
            <pc:sldMk cId="2235416667" sldId="277"/>
            <ac:spMk id="2" creationId="{322809E4-8347-E710-03D4-C78C1FE94F9D}"/>
          </ac:spMkLst>
        </pc:spChg>
        <pc:spChg chg="mod">
          <ac:chgData name="Eduardo Godoy Vega" userId="8ff8ac667e8c0c4e" providerId="LiveId" clId="{658F9985-EAE3-6C41-9171-A4B8821EAA63}" dt="2025-03-10T16:55:46.450" v="820" actId="27636"/>
          <ac:spMkLst>
            <pc:docMk/>
            <pc:sldMk cId="2235416667" sldId="277"/>
            <ac:spMk id="3" creationId="{50AB8BAF-F1C3-7237-F642-7D0C2E16EEE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539EB3-DF96-0F49-AE7B-F36C013D6DC1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91D714A5-86CC-2B46-AC52-D7F32CE76733}">
      <dgm:prSet/>
      <dgm:spPr/>
      <dgm:t>
        <a:bodyPr/>
        <a:lstStyle/>
        <a:p>
          <a:r>
            <a:rPr lang="es-ES_tradnl" dirty="0"/>
            <a:t>Trabajo previo – generalmente indicará alguna acción que deben entregar previo al inicio del laboratorio.</a:t>
          </a:r>
          <a:endParaRPr lang="en-CL" dirty="0"/>
        </a:p>
      </dgm:t>
    </dgm:pt>
    <dgm:pt modelId="{1499AF51-BE6A-B840-8FDA-5872376EFB81}" type="parTrans" cxnId="{E5AE7C42-50FE-8C44-A1F1-0DB0D722CC43}">
      <dgm:prSet/>
      <dgm:spPr/>
      <dgm:t>
        <a:bodyPr/>
        <a:lstStyle/>
        <a:p>
          <a:endParaRPr lang="en-US"/>
        </a:p>
      </dgm:t>
    </dgm:pt>
    <dgm:pt modelId="{E15CA091-AAB5-FF41-AFF4-E48319643E52}" type="sibTrans" cxnId="{E5AE7C42-50FE-8C44-A1F1-0DB0D722CC43}">
      <dgm:prSet/>
      <dgm:spPr/>
      <dgm:t>
        <a:bodyPr/>
        <a:lstStyle/>
        <a:p>
          <a:endParaRPr lang="en-US"/>
        </a:p>
      </dgm:t>
    </dgm:pt>
    <dgm:pt modelId="{3D35837C-0DD9-8D43-B4D8-441BC9B9E7DA}">
      <dgm:prSet/>
      <dgm:spPr/>
      <dgm:t>
        <a:bodyPr/>
        <a:lstStyle/>
        <a:p>
          <a:r>
            <a:rPr lang="es-ES_tradnl"/>
            <a:t>Laboratorio – trabajo en sala, en parejas.</a:t>
          </a:r>
          <a:endParaRPr lang="en-CL"/>
        </a:p>
      </dgm:t>
    </dgm:pt>
    <dgm:pt modelId="{435151FE-A538-8E48-AC91-545FB6029A0A}" type="parTrans" cxnId="{1ED63145-57AA-4442-8F3D-275E7FF65967}">
      <dgm:prSet/>
      <dgm:spPr/>
      <dgm:t>
        <a:bodyPr/>
        <a:lstStyle/>
        <a:p>
          <a:endParaRPr lang="en-US"/>
        </a:p>
      </dgm:t>
    </dgm:pt>
    <dgm:pt modelId="{EE18B21B-353D-274D-BDA6-A6C7F28FA242}" type="sibTrans" cxnId="{1ED63145-57AA-4442-8F3D-275E7FF65967}">
      <dgm:prSet/>
      <dgm:spPr/>
      <dgm:t>
        <a:bodyPr/>
        <a:lstStyle/>
        <a:p>
          <a:endParaRPr lang="en-US"/>
        </a:p>
      </dgm:t>
    </dgm:pt>
    <dgm:pt modelId="{D26A31F6-7B51-8747-A456-1E81B4C6F156}">
      <dgm:prSet/>
      <dgm:spPr/>
      <dgm:t>
        <a:bodyPr/>
        <a:lstStyle/>
        <a:p>
          <a:r>
            <a:rPr lang="es-ES_tradnl" dirty="0"/>
            <a:t>Post laboratorio – entrega de un reporte personal sobre lo aprendido.</a:t>
          </a:r>
          <a:endParaRPr lang="en-CL" dirty="0"/>
        </a:p>
      </dgm:t>
    </dgm:pt>
    <dgm:pt modelId="{E60AE29E-5579-4948-9A65-2D8712EE5DFC}" type="parTrans" cxnId="{9AFFF482-1E76-DB40-B5A1-BA18D6401AFC}">
      <dgm:prSet/>
      <dgm:spPr/>
      <dgm:t>
        <a:bodyPr/>
        <a:lstStyle/>
        <a:p>
          <a:endParaRPr lang="en-US"/>
        </a:p>
      </dgm:t>
    </dgm:pt>
    <dgm:pt modelId="{8778457D-860D-D346-AC7E-2C0823D3F0EA}" type="sibTrans" cxnId="{9AFFF482-1E76-DB40-B5A1-BA18D6401AFC}">
      <dgm:prSet/>
      <dgm:spPr/>
      <dgm:t>
        <a:bodyPr/>
        <a:lstStyle/>
        <a:p>
          <a:endParaRPr lang="en-US"/>
        </a:p>
      </dgm:t>
    </dgm:pt>
    <dgm:pt modelId="{846CF4E4-7911-A84C-8D53-8E1C8BF77A85}" type="pres">
      <dgm:prSet presAssocID="{BB539EB3-DF96-0F49-AE7B-F36C013D6DC1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1843B513-DC81-0546-BD50-63730F218BF0}" type="pres">
      <dgm:prSet presAssocID="{91D714A5-86CC-2B46-AC52-D7F32CE76733}" presName="composite" presStyleCnt="0"/>
      <dgm:spPr/>
    </dgm:pt>
    <dgm:pt modelId="{AC56DA37-FDB2-F04E-B3AA-07D1F27FC80D}" type="pres">
      <dgm:prSet presAssocID="{91D714A5-86CC-2B46-AC52-D7F32CE76733}" presName="bentUpArrow1" presStyleLbl="alignImgPlace1" presStyleIdx="0" presStyleCnt="2"/>
      <dgm:spPr/>
    </dgm:pt>
    <dgm:pt modelId="{6EAD7D0C-A149-8047-B996-0EEC0640FA3C}" type="pres">
      <dgm:prSet presAssocID="{91D714A5-86CC-2B46-AC52-D7F32CE76733}" presName="ParentText" presStyleLbl="node1" presStyleIdx="0" presStyleCnt="3" custScaleX="14083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CBA3648-35B6-6B41-A766-EE3F6A98392C}" type="pres">
      <dgm:prSet presAssocID="{91D714A5-86CC-2B46-AC52-D7F32CE76733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6CBD2D3E-5341-5F4C-8380-7317E223F94C}" type="pres">
      <dgm:prSet presAssocID="{E15CA091-AAB5-FF41-AFF4-E48319643E52}" presName="sibTrans" presStyleCnt="0"/>
      <dgm:spPr/>
    </dgm:pt>
    <dgm:pt modelId="{416E6833-0282-B94E-B0C5-093ACB2BDDF6}" type="pres">
      <dgm:prSet presAssocID="{3D35837C-0DD9-8D43-B4D8-441BC9B9E7DA}" presName="composite" presStyleCnt="0"/>
      <dgm:spPr/>
    </dgm:pt>
    <dgm:pt modelId="{94FE66A1-DA8C-5649-ADD7-45FDB7300C4D}" type="pres">
      <dgm:prSet presAssocID="{3D35837C-0DD9-8D43-B4D8-441BC9B9E7DA}" presName="bentUpArrow1" presStyleLbl="alignImgPlace1" presStyleIdx="1" presStyleCnt="2"/>
      <dgm:spPr/>
    </dgm:pt>
    <dgm:pt modelId="{57525CD9-0C0E-EB42-99C4-DFBE613DF75C}" type="pres">
      <dgm:prSet presAssocID="{3D35837C-0DD9-8D43-B4D8-441BC9B9E7DA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1E0823D-4670-584B-A986-48607800501A}" type="pres">
      <dgm:prSet presAssocID="{3D35837C-0DD9-8D43-B4D8-441BC9B9E7DA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1244C810-723B-BE43-BC23-B8DCCF723CEC}" type="pres">
      <dgm:prSet presAssocID="{EE18B21B-353D-274D-BDA6-A6C7F28FA242}" presName="sibTrans" presStyleCnt="0"/>
      <dgm:spPr/>
    </dgm:pt>
    <dgm:pt modelId="{2F882043-9773-E940-96C6-0FCD10B74892}" type="pres">
      <dgm:prSet presAssocID="{D26A31F6-7B51-8747-A456-1E81B4C6F156}" presName="composite" presStyleCnt="0"/>
      <dgm:spPr/>
    </dgm:pt>
    <dgm:pt modelId="{E69EDE8B-D563-374F-B129-09ECEBA8447E}" type="pres">
      <dgm:prSet presAssocID="{D26A31F6-7B51-8747-A456-1E81B4C6F15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1ED63145-57AA-4442-8F3D-275E7FF65967}" srcId="{BB539EB3-DF96-0F49-AE7B-F36C013D6DC1}" destId="{3D35837C-0DD9-8D43-B4D8-441BC9B9E7DA}" srcOrd="1" destOrd="0" parTransId="{435151FE-A538-8E48-AC91-545FB6029A0A}" sibTransId="{EE18B21B-353D-274D-BDA6-A6C7F28FA242}"/>
    <dgm:cxn modelId="{E5601BB3-223D-7F47-B077-D8AEC7DD9A1A}" type="presOf" srcId="{3D35837C-0DD9-8D43-B4D8-441BC9B9E7DA}" destId="{57525CD9-0C0E-EB42-99C4-DFBE613DF75C}" srcOrd="0" destOrd="0" presId="urn:microsoft.com/office/officeart/2005/8/layout/StepDownProcess"/>
    <dgm:cxn modelId="{9AFFF482-1E76-DB40-B5A1-BA18D6401AFC}" srcId="{BB539EB3-DF96-0F49-AE7B-F36C013D6DC1}" destId="{D26A31F6-7B51-8747-A456-1E81B4C6F156}" srcOrd="2" destOrd="0" parTransId="{E60AE29E-5579-4948-9A65-2D8712EE5DFC}" sibTransId="{8778457D-860D-D346-AC7E-2C0823D3F0EA}"/>
    <dgm:cxn modelId="{E5AE7C42-50FE-8C44-A1F1-0DB0D722CC43}" srcId="{BB539EB3-DF96-0F49-AE7B-F36C013D6DC1}" destId="{91D714A5-86CC-2B46-AC52-D7F32CE76733}" srcOrd="0" destOrd="0" parTransId="{1499AF51-BE6A-B840-8FDA-5872376EFB81}" sibTransId="{E15CA091-AAB5-FF41-AFF4-E48319643E52}"/>
    <dgm:cxn modelId="{77980634-7584-5C48-A003-7B023413CA37}" type="presOf" srcId="{D26A31F6-7B51-8747-A456-1E81B4C6F156}" destId="{E69EDE8B-D563-374F-B129-09ECEBA8447E}" srcOrd="0" destOrd="0" presId="urn:microsoft.com/office/officeart/2005/8/layout/StepDownProcess"/>
    <dgm:cxn modelId="{D994AA91-221F-614C-84F4-28E169635BAC}" type="presOf" srcId="{BB539EB3-DF96-0F49-AE7B-F36C013D6DC1}" destId="{846CF4E4-7911-A84C-8D53-8E1C8BF77A85}" srcOrd="0" destOrd="0" presId="urn:microsoft.com/office/officeart/2005/8/layout/StepDownProcess"/>
    <dgm:cxn modelId="{F7CAFFD7-4D33-7445-A5FA-4205C7B38DA9}" type="presOf" srcId="{91D714A5-86CC-2B46-AC52-D7F32CE76733}" destId="{6EAD7D0C-A149-8047-B996-0EEC0640FA3C}" srcOrd="0" destOrd="0" presId="urn:microsoft.com/office/officeart/2005/8/layout/StepDownProcess"/>
    <dgm:cxn modelId="{A10D7DEF-9E29-A14F-8CDB-19AB8088EF83}" type="presParOf" srcId="{846CF4E4-7911-A84C-8D53-8E1C8BF77A85}" destId="{1843B513-DC81-0546-BD50-63730F218BF0}" srcOrd="0" destOrd="0" presId="urn:microsoft.com/office/officeart/2005/8/layout/StepDownProcess"/>
    <dgm:cxn modelId="{4D9488C8-8A07-1F47-9F51-A041752B435E}" type="presParOf" srcId="{1843B513-DC81-0546-BD50-63730F218BF0}" destId="{AC56DA37-FDB2-F04E-B3AA-07D1F27FC80D}" srcOrd="0" destOrd="0" presId="urn:microsoft.com/office/officeart/2005/8/layout/StepDownProcess"/>
    <dgm:cxn modelId="{EB6B57F9-B040-FF4F-A07B-1AF01746A1B5}" type="presParOf" srcId="{1843B513-DC81-0546-BD50-63730F218BF0}" destId="{6EAD7D0C-A149-8047-B996-0EEC0640FA3C}" srcOrd="1" destOrd="0" presId="urn:microsoft.com/office/officeart/2005/8/layout/StepDownProcess"/>
    <dgm:cxn modelId="{7239BB51-6ECD-7342-95B0-8B881D969898}" type="presParOf" srcId="{1843B513-DC81-0546-BD50-63730F218BF0}" destId="{5CBA3648-35B6-6B41-A766-EE3F6A98392C}" srcOrd="2" destOrd="0" presId="urn:microsoft.com/office/officeart/2005/8/layout/StepDownProcess"/>
    <dgm:cxn modelId="{654BD484-EB30-544D-BCA4-C66F917C2839}" type="presParOf" srcId="{846CF4E4-7911-A84C-8D53-8E1C8BF77A85}" destId="{6CBD2D3E-5341-5F4C-8380-7317E223F94C}" srcOrd="1" destOrd="0" presId="urn:microsoft.com/office/officeart/2005/8/layout/StepDownProcess"/>
    <dgm:cxn modelId="{7D70090A-EF7E-1148-B229-8DA89D8F96DE}" type="presParOf" srcId="{846CF4E4-7911-A84C-8D53-8E1C8BF77A85}" destId="{416E6833-0282-B94E-B0C5-093ACB2BDDF6}" srcOrd="2" destOrd="0" presId="urn:microsoft.com/office/officeart/2005/8/layout/StepDownProcess"/>
    <dgm:cxn modelId="{3D9A24DC-D006-474D-BD1D-E74FD3798A75}" type="presParOf" srcId="{416E6833-0282-B94E-B0C5-093ACB2BDDF6}" destId="{94FE66A1-DA8C-5649-ADD7-45FDB7300C4D}" srcOrd="0" destOrd="0" presId="urn:microsoft.com/office/officeart/2005/8/layout/StepDownProcess"/>
    <dgm:cxn modelId="{7B00D596-0815-E14D-AE4F-67A3692B98B9}" type="presParOf" srcId="{416E6833-0282-B94E-B0C5-093ACB2BDDF6}" destId="{57525CD9-0C0E-EB42-99C4-DFBE613DF75C}" srcOrd="1" destOrd="0" presId="urn:microsoft.com/office/officeart/2005/8/layout/StepDownProcess"/>
    <dgm:cxn modelId="{EC7B0608-BF55-0A44-9872-2C381D3BB138}" type="presParOf" srcId="{416E6833-0282-B94E-B0C5-093ACB2BDDF6}" destId="{71E0823D-4670-584B-A986-48607800501A}" srcOrd="2" destOrd="0" presId="urn:microsoft.com/office/officeart/2005/8/layout/StepDownProcess"/>
    <dgm:cxn modelId="{0A7DBEED-21E0-F94A-B06A-9362D841D876}" type="presParOf" srcId="{846CF4E4-7911-A84C-8D53-8E1C8BF77A85}" destId="{1244C810-723B-BE43-BC23-B8DCCF723CEC}" srcOrd="3" destOrd="0" presId="urn:microsoft.com/office/officeart/2005/8/layout/StepDownProcess"/>
    <dgm:cxn modelId="{EAE0E37B-8FF2-564C-A5AF-968ACE8B0F19}" type="presParOf" srcId="{846CF4E4-7911-A84C-8D53-8E1C8BF77A85}" destId="{2F882043-9773-E940-96C6-0FCD10B74892}" srcOrd="4" destOrd="0" presId="urn:microsoft.com/office/officeart/2005/8/layout/StepDownProcess"/>
    <dgm:cxn modelId="{E2F90E7A-12D0-964C-9736-45F506F5197D}" type="presParOf" srcId="{2F882043-9773-E940-96C6-0FCD10B74892}" destId="{E69EDE8B-D563-374F-B129-09ECEBA8447E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6DA37-FDB2-F04E-B3AA-07D1F27FC80D}">
      <dsp:nvSpPr>
        <dsp:cNvPr id="0" name=""/>
        <dsp:cNvSpPr/>
      </dsp:nvSpPr>
      <dsp:spPr>
        <a:xfrm rot="5400000">
          <a:off x="1433396" y="1271326"/>
          <a:ext cx="1124378" cy="128006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D7D0C-A149-8047-B996-0EEC0640FA3C}">
      <dsp:nvSpPr>
        <dsp:cNvPr id="0" name=""/>
        <dsp:cNvSpPr/>
      </dsp:nvSpPr>
      <dsp:spPr>
        <a:xfrm>
          <a:off x="749062" y="24930"/>
          <a:ext cx="2665676" cy="1324893"/>
        </a:xfrm>
        <a:prstGeom prst="roundRect">
          <a:avLst>
            <a:gd name="adj" fmla="val 16670"/>
          </a:avLst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300" kern="1200" dirty="0"/>
            <a:t>Trabajo previo – generalmente indicará alguna acción que deben entregar previo al inicio del laboratorio.</a:t>
          </a:r>
          <a:endParaRPr lang="en-CL" sz="1300" kern="1200" dirty="0"/>
        </a:p>
      </dsp:txBody>
      <dsp:txXfrm>
        <a:off x="813750" y="89618"/>
        <a:ext cx="2536300" cy="1195517"/>
      </dsp:txXfrm>
    </dsp:sp>
    <dsp:sp modelId="{5CBA3648-35B6-6B41-A766-EE3F6A98392C}">
      <dsp:nvSpPr>
        <dsp:cNvPr id="0" name=""/>
        <dsp:cNvSpPr/>
      </dsp:nvSpPr>
      <dsp:spPr>
        <a:xfrm>
          <a:off x="3028297" y="151288"/>
          <a:ext cx="1376636" cy="10708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FE66A1-DA8C-5649-ADD7-45FDB7300C4D}">
      <dsp:nvSpPr>
        <dsp:cNvPr id="0" name=""/>
        <dsp:cNvSpPr/>
      </dsp:nvSpPr>
      <dsp:spPr>
        <a:xfrm rot="5400000">
          <a:off x="2801773" y="2759619"/>
          <a:ext cx="1124378" cy="128006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91173"/>
            <a:satOff val="-3215"/>
            <a:lumOff val="108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25CD9-0C0E-EB42-99C4-DFBE613DF75C}">
      <dsp:nvSpPr>
        <dsp:cNvPr id="0" name=""/>
        <dsp:cNvSpPr/>
      </dsp:nvSpPr>
      <dsp:spPr>
        <a:xfrm>
          <a:off x="2503880" y="1513222"/>
          <a:ext cx="1892792" cy="1324893"/>
        </a:xfrm>
        <a:prstGeom prst="roundRect">
          <a:avLst>
            <a:gd name="adj" fmla="val 16670"/>
          </a:avLst>
        </a:prstGeom>
        <a:solidFill>
          <a:schemeClr val="accent4">
            <a:shade val="80000"/>
            <a:hueOff val="264123"/>
            <a:satOff val="-15129"/>
            <a:lumOff val="167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300" kern="1200"/>
            <a:t>Laboratorio – trabajo en sala, en parejas.</a:t>
          </a:r>
          <a:endParaRPr lang="en-CL" sz="1300" kern="1200"/>
        </a:p>
      </dsp:txBody>
      <dsp:txXfrm>
        <a:off x="2568568" y="1577910"/>
        <a:ext cx="1763416" cy="1195517"/>
      </dsp:txXfrm>
    </dsp:sp>
    <dsp:sp modelId="{71E0823D-4670-584B-A986-48607800501A}">
      <dsp:nvSpPr>
        <dsp:cNvPr id="0" name=""/>
        <dsp:cNvSpPr/>
      </dsp:nvSpPr>
      <dsp:spPr>
        <a:xfrm>
          <a:off x="4396673" y="1639581"/>
          <a:ext cx="1376636" cy="10708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9EDE8B-D563-374F-B129-09ECEBA8447E}">
      <dsp:nvSpPr>
        <dsp:cNvPr id="0" name=""/>
        <dsp:cNvSpPr/>
      </dsp:nvSpPr>
      <dsp:spPr>
        <a:xfrm>
          <a:off x="4258698" y="3001514"/>
          <a:ext cx="1892792" cy="1324893"/>
        </a:xfrm>
        <a:prstGeom prst="roundRect">
          <a:avLst>
            <a:gd name="adj" fmla="val 16670"/>
          </a:avLst>
        </a:prstGeom>
        <a:solidFill>
          <a:schemeClr val="accent4">
            <a:shade val="80000"/>
            <a:hueOff val="528246"/>
            <a:satOff val="-30258"/>
            <a:lumOff val="335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300" kern="1200" dirty="0"/>
            <a:t>Post laboratorio – entrega de un reporte personal sobre lo aprendido.</a:t>
          </a:r>
          <a:endParaRPr lang="en-CL" sz="1300" kern="1200" dirty="0"/>
        </a:p>
      </dsp:txBody>
      <dsp:txXfrm>
        <a:off x="4323386" y="3066202"/>
        <a:ext cx="1763416" cy="1195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491C-5412-646D-0B9D-102F668EB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D81A8-F9CF-AC0A-6320-41B086D91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125B9-9B06-9605-A0DB-EFECE80F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1F4E8-F605-1C4A-242A-775A82E7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BD862-A90B-8028-C1F4-D11F91D3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488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52D74-01C6-BE4B-B543-CE04C91D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190FA-1E41-DA6E-FD62-2DE1657DB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B00A-5FB4-2AB9-8F45-C81C822B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95D9-28FC-C21B-1551-C82CCEFC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8FBAD-9543-CDB4-4076-E0B9B109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0960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4594-6A5D-6DCC-2F24-099E61E5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0A32-708D-42A2-94A8-86F07D5F1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1FF49-E18E-9CCD-F4DB-1E1EA974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751C-AD8D-2EE8-504E-EA7B7A53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BBD71-E256-EAC9-3D43-723A356A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0089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F8B3-DE2C-660B-9B2E-4A53AD02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87F4-2595-89FC-26BA-71A01AC5D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47BD1-EB28-8B39-9B18-453D2BB74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A5DE6-C87A-6AFA-D2A6-39A841D4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C1722-7C58-7417-FEA2-B92CE23F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CA702-7E90-2907-6B54-C0B65F7E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4976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F149-10A1-A798-91B1-51C41347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65727-FAB3-29A0-9745-118C96DF8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FAC35-9CCB-88B6-4EC6-57F442BCA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61601-A8A2-6307-E766-7F31A4D99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F51D9-A234-70A6-3A95-C9C18E437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8E41D-5606-1AE6-C43A-137669A14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66555-4C5B-8924-19D3-159139BB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1E173-92F8-B324-D176-9B0C0C62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0638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2C2E-3DC7-DAA0-2243-D47CE27B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76AD4-3819-22AA-7A52-4F88713D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6710A-1BAE-C2DE-1135-53E7ABA8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F4BDB-90E2-2939-D479-5D34DBAE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552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D9465-1CD0-9063-747B-A57F0CA6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A9AA5-3BBB-038D-34CA-3451E5FC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C921-5F53-101E-A72E-2C9414BA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6791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3027-22A5-4F0B-0658-715E7EB01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721D5-E0D0-1B8D-41CF-8E40453F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F70D3-1CA6-E02B-5233-15984015F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14B21-4F02-9374-00EA-4BCAE351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4B4F6-44DF-03DC-7BDF-6B30BE9E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C368D-D11A-58FE-2D40-B457A6A26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3297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0D24-EDF3-2D59-9941-1250523F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3112B-3B3B-E0A3-04CB-E196EA30C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E961C-2172-7FA8-8252-680390045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BDBC2-0FCD-00DC-4E06-4DCC850A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3303B-59FC-0516-B741-F13D9C9E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5E886-33F1-82DD-173C-51F3AD70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3731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8156-4421-226D-85B1-9D11A676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24274-BE0B-727F-0CC6-77B831DB1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01FF1-E75D-A8D9-1C17-E6D1E137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89316-8694-06C0-9042-857C3B0C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74E40-F646-CC8A-6A54-BEFC3E8A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343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398C82-DF02-332E-B3BF-BBFE118BA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E214B-438F-01A3-47AF-351FA7E8A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D660F-4D70-8D7E-A437-4D0C6F90F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CF82-A52C-5A64-2E98-F95FDB71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E698C-A633-DD8B-19F8-8A936176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200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6E743-62E3-D204-485D-C18536FDC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D9385-877E-FE6A-AC5C-61C118F19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3A877-E718-5D98-48BC-9C865F17B0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5CA2E-1774-8147-A935-C6C92BF19D83}" type="datetimeFigureOut">
              <a:rPr lang="es-ES_tradnl" smtClean="0"/>
              <a:t>09/03/2026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FE717-AE22-643D-E8B7-6AC7D25EC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B3476-2E22-A163-3A05-BC384A4E3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C9AC4-DA76-0C48-8F07-712FCAEC22D5}" type="slidenum">
              <a:rPr lang="es-ES_tradnl" smtClean="0"/>
              <a:t>‹Nº›</a:t>
            </a:fld>
            <a:endParaRPr lang="es-ES_tradnl"/>
          </a:p>
        </p:txBody>
      </p:sp>
      <p:pic>
        <p:nvPicPr>
          <p:cNvPr id="2050" name="Picture 2" descr="A 30 años del nacimiento de los Padrinos de Beauchef">
            <a:extLst>
              <a:ext uri="{FF2B5EF4-FFF2-40B4-BE49-F238E27FC236}">
                <a16:creationId xmlns:a16="http://schemas.microsoft.com/office/drawing/2014/main" id="{ACC61C33-BC8C-E08C-04EA-C8760B7856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alphaModFix amt="2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59"/>
          <a:stretch/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6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https://www.dcc.uchile.cl/sites/default/files/imagenes/logos/H-lg.p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uspensión de actividades 21 a 26 octubre - Facultad de Ciencias Físicas y  Matemáticas - Universidad de Chile">
            <a:extLst>
              <a:ext uri="{FF2B5EF4-FFF2-40B4-BE49-F238E27FC236}">
                <a16:creationId xmlns:a16="http://schemas.microsoft.com/office/drawing/2014/main" id="{E0AFBC16-A211-7F3B-35BE-0901E36A4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" y="-9637"/>
            <a:ext cx="12181433" cy="686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ogo fcfm (1) | Centro de Ciencia del Clima y la Resiliencia - CR2">
            <a:extLst>
              <a:ext uri="{FF2B5EF4-FFF2-40B4-BE49-F238E27FC236}">
                <a16:creationId xmlns:a16="http://schemas.microsoft.com/office/drawing/2014/main" id="{5B908579-F80D-ADA4-5144-778F94DD1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0"/>
            <a:ext cx="5715000" cy="117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14A022-40D3-7583-3BF4-76C27EF1F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64420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50947119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370008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3691406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013445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0432876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89407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3767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7591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CC1000</a:t>
                      </a:r>
                    </a:p>
                    <a:p>
                      <a:pPr algn="ctr"/>
                      <a:r>
                        <a:rPr lang="es-ES_tradnl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Herramientas computaciones para Ingeniería y Ciencias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40457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238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38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9A0E-35B1-1696-489F-E27934E1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Equipo</a:t>
            </a:r>
            <a:endParaRPr lang="es-ES_trad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A681-2BB4-925D-1930-C927948ED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118"/>
            <a:ext cx="11049000" cy="4647156"/>
          </a:xfrm>
        </p:spPr>
        <p:txBody>
          <a:bodyPr>
            <a:normAutofit/>
          </a:bodyPr>
          <a:lstStyle/>
          <a:p>
            <a:r>
              <a:rPr lang="es-ES_tradnl" dirty="0" smtClean="0">
                <a:latin typeface="Arial" panose="020B0604020202020204" pitchFamily="34" charset="0"/>
                <a:cs typeface="Arial" panose="020B0604020202020204" pitchFamily="34" charset="0"/>
              </a:rPr>
              <a:t>Nelson </a:t>
            </a:r>
            <a:r>
              <a:rPr lang="es-ES_tradnl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Baloian</a:t>
            </a:r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2800" dirty="0">
                <a:latin typeface="Arial" panose="020B0604020202020204" pitchFamily="34" charset="0"/>
                <a:cs typeface="Arial" panose="020B0604020202020204" pitchFamily="34" charset="0"/>
              </a:rPr>
              <a:t>Ingeniero Civil en Computación – U. de Chile.</a:t>
            </a:r>
          </a:p>
          <a:p>
            <a:pPr lvl="1"/>
            <a:r>
              <a:rPr lang="es-ES_tradnl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Dr. </a:t>
            </a:r>
            <a:r>
              <a:rPr lang="es-ES_tradnl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Rer</a:t>
            </a:r>
            <a:r>
              <a:rPr lang="es-ES_tradnl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  <a:r>
              <a:rPr lang="es-ES_tradnl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Universität</a:t>
            </a:r>
            <a:r>
              <a:rPr lang="es-ES_tradnl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Duisburg</a:t>
            </a:r>
            <a:endParaRPr lang="es-ES_tradnl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_tradnl" dirty="0"/>
          </a:p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Auxiliares – Estudiantes de la carrera de Ing. Civil. En Computación</a:t>
            </a:r>
          </a:p>
          <a:p>
            <a:pPr lvl="1"/>
            <a:r>
              <a:rPr lang="es-ES_tradnl" sz="2800" dirty="0">
                <a:latin typeface="Arial" panose="020B0604020202020204" pitchFamily="34" charset="0"/>
                <a:cs typeface="Arial" panose="020B0604020202020204" pitchFamily="34" charset="0"/>
              </a:rPr>
              <a:t>Matías Godoy</a:t>
            </a:r>
          </a:p>
          <a:p>
            <a:pPr lvl="1"/>
            <a:r>
              <a:rPr lang="es-ES_tradnl" sz="2800" dirty="0">
                <a:latin typeface="Arial" panose="020B0604020202020204" pitchFamily="34" charset="0"/>
                <a:cs typeface="Arial" panose="020B0604020202020204" pitchFamily="34" charset="0"/>
              </a:rPr>
              <a:t>Pablo Rivas</a:t>
            </a:r>
            <a:endParaRPr lang="es-ES_trad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 descr="Logo Horizontal | Sitio Web DCC">
            <a:extLst>
              <a:ext uri="{FF2B5EF4-FFF2-40B4-BE49-F238E27FC236}">
                <a16:creationId xmlns:a16="http://schemas.microsoft.com/office/drawing/2014/main" id="{17573A0B-3625-3C6B-BDEB-AEAA83446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37692" cy="63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00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413DD-8C39-F7FC-58CB-CD8AF8B2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El curso: CC1000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0EA9DA-FAEE-7FC9-F591-2B13F236E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54" y="1860132"/>
            <a:ext cx="9105769" cy="435133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3739D51-C177-DC89-9875-06B08DD49477}"/>
              </a:ext>
            </a:extLst>
          </p:cNvPr>
          <p:cNvSpPr/>
          <p:nvPr/>
        </p:nvSpPr>
        <p:spPr>
          <a:xfrm>
            <a:off x="8183880" y="3657600"/>
            <a:ext cx="1182543" cy="1569720"/>
          </a:xfrm>
          <a:prstGeom prst="ellipse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793C31-5D6B-9FAB-17C0-661A9E8739F1}"/>
              </a:ext>
            </a:extLst>
          </p:cNvPr>
          <p:cNvSpPr/>
          <p:nvPr/>
        </p:nvSpPr>
        <p:spPr>
          <a:xfrm>
            <a:off x="3036499" y="3657600"/>
            <a:ext cx="1817298" cy="1569720"/>
          </a:xfrm>
          <a:prstGeom prst="ellipse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D005A-7611-E5F3-F86F-613655D28943}"/>
              </a:ext>
            </a:extLst>
          </p:cNvPr>
          <p:cNvSpPr txBox="1"/>
          <p:nvPr/>
        </p:nvSpPr>
        <p:spPr>
          <a:xfrm>
            <a:off x="2896409" y="6380912"/>
            <a:ext cx="2216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/>
              <a:t>LABORATORIO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61A5F84F-F2CB-48B8-4B48-FC6535C4C525}"/>
              </a:ext>
            </a:extLst>
          </p:cNvPr>
          <p:cNvSpPr/>
          <p:nvPr/>
        </p:nvSpPr>
        <p:spPr>
          <a:xfrm rot="10800000">
            <a:off x="3692107" y="5365630"/>
            <a:ext cx="534837" cy="84583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E14C7-9840-435A-4ADA-09724BC410C1}"/>
              </a:ext>
            </a:extLst>
          </p:cNvPr>
          <p:cNvSpPr txBox="1"/>
          <p:nvPr/>
        </p:nvSpPr>
        <p:spPr>
          <a:xfrm>
            <a:off x="10144663" y="3657600"/>
            <a:ext cx="20473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dirty="0"/>
              <a:t>TRABAJO PERSONAL FUERA DEL LABORATORIO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EA2C53BF-7702-0ECE-6B92-6FD4E4119ABE}"/>
              </a:ext>
            </a:extLst>
          </p:cNvPr>
          <p:cNvSpPr/>
          <p:nvPr/>
        </p:nvSpPr>
        <p:spPr>
          <a:xfrm rot="5400000">
            <a:off x="9488124" y="3896399"/>
            <a:ext cx="534837" cy="84583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4AD28-02B1-ABFE-135F-CB8177859427}"/>
              </a:ext>
            </a:extLst>
          </p:cNvPr>
          <p:cNvSpPr txBox="1"/>
          <p:nvPr/>
        </p:nvSpPr>
        <p:spPr>
          <a:xfrm>
            <a:off x="5417389" y="-776377"/>
            <a:ext cx="616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La mayor parte del </a:t>
            </a:r>
            <a:r>
              <a:rPr lang="es-ES_tradnl"/>
              <a:t>trabajo ocurre FUERA DEL LABORATORIO.</a:t>
            </a:r>
          </a:p>
        </p:txBody>
      </p:sp>
    </p:spTree>
    <p:extLst>
      <p:ext uri="{BB962C8B-B14F-4D97-AF65-F5344CB8AC3E}">
        <p14:creationId xmlns:p14="http://schemas.microsoft.com/office/powerpoint/2010/main" val="94148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60A7-CF38-7FEA-B2D4-3A0F9A46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Propósito del curso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EF2F-972A-FA9B-D400-B5ED2BFEA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22860" marR="177165" algn="just">
              <a:lnSpc>
                <a:spcPct val="100000"/>
              </a:lnSpc>
              <a:spcAft>
                <a:spcPts val="0"/>
              </a:spcAft>
            </a:pP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curso Herramientas computacionales para Ingeniería y Ciencias tiene por finalidad </a:t>
            </a:r>
            <a:r>
              <a:rPr lang="es-ES" sz="3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asegurar que</a:t>
            </a:r>
            <a:r>
              <a:rPr lang="es-ES" sz="3600" b="1" spc="5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todos los estudiantes, independientemente de sus conocimientos previos, logren un nivel de manejo de las herramientas computacionales básicas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tales como: Excel, Google </a:t>
            </a:r>
            <a:r>
              <a:rPr lang="es-ES" sz="3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Docs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s-ES" sz="3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Document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3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Sheet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Presentación</a:t>
            </a:r>
            <a:r>
              <a:rPr lang="es-ES" sz="36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LaTeX, </a:t>
            </a:r>
            <a:r>
              <a:rPr lang="es-ES" sz="36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Python,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entre</a:t>
            </a:r>
            <a:r>
              <a:rPr lang="es-ES" sz="3600" spc="5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otros,</a:t>
            </a:r>
            <a:r>
              <a:rPr lang="es-ES" sz="3600" spc="-5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 permita</a:t>
            </a:r>
            <a:r>
              <a:rPr lang="es-ES" sz="3600" spc="-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</a:t>
            </a:r>
            <a:r>
              <a:rPr lang="es-ES" sz="3600" spc="2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resolución</a:t>
            </a:r>
            <a:r>
              <a:rPr lang="es-ES" sz="3600" spc="-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problemas</a:t>
            </a:r>
            <a:r>
              <a:rPr lang="es-ES" sz="3600" spc="-15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simples </a:t>
            </a:r>
            <a:r>
              <a:rPr lang="es-ES" sz="36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</a:t>
            </a:r>
            <a:r>
              <a:rPr lang="es-ES" sz="3600" spc="-5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ingeniería</a:t>
            </a:r>
            <a:r>
              <a:rPr lang="es-ES" sz="3600" spc="-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 </a:t>
            </a:r>
            <a:r>
              <a:rPr lang="es-ES" sz="3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ciencias y la escritura de informes técnicos .</a:t>
            </a:r>
            <a:endParaRPr lang="en-CL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177165" indent="0" algn="just">
              <a:lnSpc>
                <a:spcPct val="100000"/>
              </a:lnSpc>
              <a:spcAft>
                <a:spcPts val="0"/>
              </a:spcAft>
              <a:buNone/>
            </a:pPr>
            <a:endParaRPr lang="en-CL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" marR="69850" algn="just">
              <a:lnSpc>
                <a:spcPct val="100000"/>
              </a:lnSpc>
              <a:spcAft>
                <a:spcPts val="0"/>
              </a:spcAft>
            </a:pP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curso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eminentemente</a:t>
            </a:r>
            <a:r>
              <a:rPr lang="es-ES" sz="3600" b="1" spc="5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práctico</a:t>
            </a:r>
            <a:r>
              <a:rPr lang="es-ES" sz="3600" b="1" spc="5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orienta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</a:t>
            </a:r>
            <a:r>
              <a:rPr lang="es-ES" sz="3600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resolución</a:t>
            </a:r>
            <a:r>
              <a:rPr lang="es-ES" sz="3600" b="1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</a:t>
            </a:r>
            <a:r>
              <a:rPr lang="es-ES" sz="3600" b="1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problemas,</a:t>
            </a:r>
            <a:r>
              <a:rPr lang="es-ES" sz="3600" b="1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motivando</a:t>
            </a:r>
            <a:r>
              <a:rPr lang="es-ES" sz="3600" b="1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</a:t>
            </a:r>
            <a:r>
              <a:rPr lang="es-ES" sz="3600" b="1" spc="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introducción de las herramientas necesarias para resolverlos,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profundizando en las características de</a:t>
            </a:r>
            <a:r>
              <a:rPr lang="es-ES" sz="3600" spc="-23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estas</a:t>
            </a:r>
            <a:r>
              <a:rPr lang="es-ES" sz="3600" spc="-1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herramientas</a:t>
            </a:r>
            <a:r>
              <a:rPr lang="es-ES" sz="36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s-ES" sz="3600" spc="-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medida</a:t>
            </a:r>
            <a:r>
              <a:rPr lang="es-ES" sz="3600" spc="-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</a:t>
            </a:r>
            <a:r>
              <a:rPr lang="es-ES" sz="3600" spc="-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los</a:t>
            </a:r>
            <a:r>
              <a:rPr lang="es-ES" sz="36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problemas</a:t>
            </a:r>
            <a:r>
              <a:rPr lang="es-ES" sz="36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planteados</a:t>
            </a:r>
            <a:r>
              <a:rPr lang="es-ES" sz="36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</a:t>
            </a:r>
            <a:r>
              <a:rPr lang="es-ES" sz="3600" spc="-1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36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requieren.</a:t>
            </a:r>
            <a:endParaRPr lang="en-CL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23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8D4E-F405-671A-4B05-605B933B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Unidades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E9B5364-5065-F1F0-85C9-8AA88435462F}"/>
              </a:ext>
            </a:extLst>
          </p:cNvPr>
          <p:cNvSpPr/>
          <p:nvPr/>
        </p:nvSpPr>
        <p:spPr>
          <a:xfrm>
            <a:off x="249375" y="1690688"/>
            <a:ext cx="2632858" cy="4318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>
                <a:latin typeface="Calibri" panose="020F0502020204030204" pitchFamily="34" charset="0"/>
                <a:ea typeface="Calibri" panose="020F0502020204030204" pitchFamily="34" charset="0"/>
              </a:rPr>
              <a:t>Nociones básicas de uso de AI y ética en su uso</a:t>
            </a:r>
            <a:endParaRPr lang="es-ES_tradnl" dirty="0"/>
          </a:p>
          <a:p>
            <a:pPr algn="ctr"/>
            <a:endParaRPr lang="es-ES_tradnl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889889-4869-489E-6AF1-72F91C225FED}"/>
              </a:ext>
            </a:extLst>
          </p:cNvPr>
          <p:cNvSpPr/>
          <p:nvPr/>
        </p:nvSpPr>
        <p:spPr>
          <a:xfrm>
            <a:off x="3289297" y="1690688"/>
            <a:ext cx="2632858" cy="4318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latin typeface="Calibri" panose="020F0502020204030204" pitchFamily="34" charset="0"/>
                <a:ea typeface="Calibri" panose="020F0502020204030204" pitchFamily="34" charset="0"/>
              </a:rPr>
              <a:t>Herramientas</a:t>
            </a:r>
            <a:r>
              <a:rPr lang="es-ES" spc="-10">
                <a:latin typeface="Calibri" panose="020F0502020204030204" pitchFamily="34" charset="0"/>
                <a:ea typeface="Calibri" panose="020F0502020204030204" pitchFamily="34" charset="0"/>
              </a:rPr>
              <a:t> computacionales para la extracción, interpretación y comunicación de resultados</a:t>
            </a:r>
            <a:r>
              <a:rPr lang="en-CL"/>
              <a:t> </a:t>
            </a:r>
            <a:endParaRPr lang="es-CL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16EFC7-5616-45E8-A481-DAE3C4866277}"/>
              </a:ext>
            </a:extLst>
          </p:cNvPr>
          <p:cNvSpPr/>
          <p:nvPr/>
        </p:nvSpPr>
        <p:spPr>
          <a:xfrm>
            <a:off x="6329219" y="1690688"/>
            <a:ext cx="2632858" cy="4318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latin typeface="Calibri" panose="020F0502020204030204" pitchFamily="34" charset="0"/>
                <a:ea typeface="Calibri" panose="020F0502020204030204" pitchFamily="34" charset="0"/>
              </a:rPr>
              <a:t>Resolución de problemas con datos tabulados con planillas de cálculo</a:t>
            </a:r>
            <a:r>
              <a:rPr lang="en-CL"/>
              <a:t> </a:t>
            </a:r>
            <a:endParaRPr lang="es-ES_tradnl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CE2028-6B65-C12D-FC32-2AB140EA449E}"/>
              </a:ext>
            </a:extLst>
          </p:cNvPr>
          <p:cNvSpPr/>
          <p:nvPr/>
        </p:nvSpPr>
        <p:spPr>
          <a:xfrm>
            <a:off x="9369141" y="1690688"/>
            <a:ext cx="2632858" cy="4318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latin typeface="Calibri" panose="020F0502020204030204" pitchFamily="34" charset="0"/>
                <a:ea typeface="Calibri" panose="020F0502020204030204" pitchFamily="34" charset="0"/>
              </a:rPr>
              <a:t>Resolución de problemas matemáticos o científicos que requieren de herramientas computacionales basadas en vectores</a:t>
            </a:r>
            <a:r>
              <a:rPr lang="en-CL"/>
              <a:t> </a:t>
            </a:r>
            <a:endParaRPr lang="es-ES_tradnl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FFF16C-FEA4-4B42-3BA1-54E82B16673B}"/>
              </a:ext>
            </a:extLst>
          </p:cNvPr>
          <p:cNvSpPr/>
          <p:nvPr/>
        </p:nvSpPr>
        <p:spPr>
          <a:xfrm>
            <a:off x="838200" y="5284519"/>
            <a:ext cx="1394361" cy="1460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E91212-8583-6BAC-AC00-7A6F9AF84A9D}"/>
              </a:ext>
            </a:extLst>
          </p:cNvPr>
          <p:cNvSpPr/>
          <p:nvPr/>
        </p:nvSpPr>
        <p:spPr>
          <a:xfrm>
            <a:off x="3908545" y="5284519"/>
            <a:ext cx="1394361" cy="1460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0C7AFE-17A1-AE26-750D-17ACAF29A7D5}"/>
              </a:ext>
            </a:extLst>
          </p:cNvPr>
          <p:cNvSpPr/>
          <p:nvPr/>
        </p:nvSpPr>
        <p:spPr>
          <a:xfrm>
            <a:off x="6978890" y="5284519"/>
            <a:ext cx="1394361" cy="1460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110495-1194-1F40-0D3B-318108FB1400}"/>
              </a:ext>
            </a:extLst>
          </p:cNvPr>
          <p:cNvSpPr/>
          <p:nvPr/>
        </p:nvSpPr>
        <p:spPr>
          <a:xfrm>
            <a:off x="10109758" y="5284519"/>
            <a:ext cx="1394361" cy="1460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112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8861-C4A1-568B-788A-DEB5BEEB9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7728"/>
            <a:ext cx="10515600" cy="1174010"/>
          </a:xfrm>
        </p:spPr>
        <p:txBody>
          <a:bodyPr>
            <a:norm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Cada laboratorio 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F4029B-9A1A-3B8C-F48F-D7B247AB7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85639"/>
              </p:ext>
            </p:extLst>
          </p:nvPr>
        </p:nvGraphicFramePr>
        <p:xfrm>
          <a:off x="5545776" y="1350612"/>
          <a:ext cx="690055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AA397A-3885-2EE0-5505-BA6AA7661787}"/>
              </a:ext>
            </a:extLst>
          </p:cNvPr>
          <p:cNvSpPr txBox="1"/>
          <p:nvPr/>
        </p:nvSpPr>
        <p:spPr>
          <a:xfrm>
            <a:off x="140028" y="914737"/>
            <a:ext cx="58968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Escala de notas: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Trabajo Previo (TP) : 1.0 - 3.0 – 5.0 – 7.0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Laboratorio (LAB): 1.0 a 7.0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Post Laboratorio (PL): 1.0 – 3.0 – 5.0 – 7.0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Nota Laboratorio: TP * 10% + LAB*80%+PL*10%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TP y PL se evaluarán con nota 1.0 si no se entrega o lo entregado no guarda relación con lo pedido.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Si un laboratorio el trabajo previo o el post laboratorio es calificado con nota 1.0, nota máxima del laboratorio 5.0</a:t>
            </a:r>
          </a:p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El laboratorio es presencial, si no está en la asistencia, no se revisará.</a:t>
            </a:r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Una vez pasada la asistencia, no se podrá entrar al laboratorio (20 min </a:t>
            </a:r>
            <a:r>
              <a:rPr lang="es-ES_tradnl" dirty="0" err="1">
                <a:latin typeface="Arial" panose="020B0604020202020204" pitchFamily="34" charset="0"/>
                <a:cs typeface="Arial" panose="020B0604020202020204" pitchFamily="34" charset="0"/>
              </a:rPr>
              <a:t>máx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Todas las entregas son en u-cursos, no se aceptarán entregas por otro medio (correo, </a:t>
            </a:r>
            <a:r>
              <a:rPr lang="es-ES_tradnl" dirty="0" err="1">
                <a:latin typeface="Arial" panose="020B0604020202020204" pitchFamily="34" charset="0"/>
                <a:cs typeface="Arial" panose="020B0604020202020204" pitchFamily="34" charset="0"/>
              </a:rPr>
              <a:t>whatsapp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_tradnl" dirty="0" err="1"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_tradnl" dirty="0" err="1">
                <a:latin typeface="Arial" panose="020B0604020202020204" pitchFamily="34" charset="0"/>
                <a:cs typeface="Arial" panose="020B0604020202020204" pitchFamily="34" charset="0"/>
              </a:rPr>
              <a:t>Discord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 u otro)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0D6E2-126C-BEC3-FBCE-508D71C77E55}"/>
              </a:ext>
            </a:extLst>
          </p:cNvPr>
          <p:cNvSpPr txBox="1"/>
          <p:nvPr/>
        </p:nvSpPr>
        <p:spPr>
          <a:xfrm>
            <a:off x="9524009" y="1116281"/>
            <a:ext cx="2493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Se entrega hasta el día previo al laboratorio. (23:59hrs)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F927E4-9E93-4619-E2B3-E71E455890B6}"/>
              </a:ext>
            </a:extLst>
          </p:cNvPr>
          <p:cNvCxnSpPr/>
          <p:nvPr/>
        </p:nvCxnSpPr>
        <p:spPr>
          <a:xfrm flipH="1">
            <a:off x="8443356" y="1350612"/>
            <a:ext cx="1045028" cy="340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B6A12B-CE2B-97F7-E09B-5B05FEF1CC25}"/>
              </a:ext>
            </a:extLst>
          </p:cNvPr>
          <p:cNvSpPr txBox="1"/>
          <p:nvPr/>
        </p:nvSpPr>
        <p:spPr>
          <a:xfrm>
            <a:off x="10106892" y="2879950"/>
            <a:ext cx="1910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Se entrega el día del laboratorio (23:59hrs</a:t>
            </a:r>
            <a:r>
              <a:rPr lang="es-ES_tradnl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1B72C4-916A-0DF5-CECF-C8B5AD284E7B}"/>
              </a:ext>
            </a:extLst>
          </p:cNvPr>
          <p:cNvSpPr txBox="1"/>
          <p:nvPr/>
        </p:nvSpPr>
        <p:spPr>
          <a:xfrm>
            <a:off x="8764557" y="5727955"/>
            <a:ext cx="3253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Se entrega el día siguiente del laboratorio (23:59hrs)</a:t>
            </a:r>
          </a:p>
        </p:txBody>
      </p:sp>
    </p:spTree>
    <p:extLst>
      <p:ext uri="{BB962C8B-B14F-4D97-AF65-F5344CB8AC3E}">
        <p14:creationId xmlns:p14="http://schemas.microsoft.com/office/powerpoint/2010/main" val="128129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B97A-952E-FD6F-8041-B04EEFE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Post Laboratorio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F9EE-C218-6923-3223-0DFEBDE55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b="1" dirty="0"/>
              <a:t>Luego de cada laboratorio, el estudiante debe entregar un archivo con pantallazos del trabajo realizado y una breve lista de lo más relevante; este material, además de ser evaluado, será de utilidad para el Informe Temático.</a:t>
            </a:r>
          </a:p>
        </p:txBody>
      </p:sp>
    </p:spTree>
    <p:extLst>
      <p:ext uri="{BB962C8B-B14F-4D97-AF65-F5344CB8AC3E}">
        <p14:creationId xmlns:p14="http://schemas.microsoft.com/office/powerpoint/2010/main" val="407148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F412-C23B-B193-7222-E23EC4AB7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09E4-8347-E710-03D4-C78C1FE9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26" y="0"/>
            <a:ext cx="10515600" cy="1325563"/>
          </a:xfrm>
        </p:spPr>
        <p:txBody>
          <a:bodyPr>
            <a:norm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Informe </a:t>
            </a:r>
            <a:r>
              <a:rPr lang="es-ES_tradnl" b="1" dirty="0" smtClean="0">
                <a:latin typeface="Arial" panose="020B0604020202020204" pitchFamily="34" charset="0"/>
                <a:cs typeface="Arial" panose="020B0604020202020204" pitchFamily="34" charset="0"/>
              </a:rPr>
              <a:t>temático</a:t>
            </a:r>
            <a:endParaRPr lang="es-ES_trad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B8BAF-F1C3-7237-F642-7D0C2E16E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02" y="1138335"/>
            <a:ext cx="11634424" cy="5354540"/>
          </a:xfrm>
        </p:spPr>
        <p:txBody>
          <a:bodyPr>
            <a:normAutofit/>
          </a:bodyPr>
          <a:lstStyle/>
          <a:p>
            <a:pPr marL="0">
              <a:spcBef>
                <a:spcPts val="1200"/>
              </a:spcBef>
            </a:pPr>
            <a:r>
              <a:rPr lang="es-CL" sz="2000" b="1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informe por cada unidad (4 en total). </a:t>
            </a:r>
            <a:r>
              <a:rPr lang="en-CL" sz="2000" b="1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n-CL" sz="2000" b="1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informe temático (4) debe tener los siguientes elementos: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Portada formal: logo de la FCFM, nombre del estudiante, fecha, título.</a:t>
            </a:r>
            <a:endParaRPr lang="en-C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Descripción de la herramienta utilizada. (ejemplo: Latex)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Problemas resueltos  (qué problemas resolvió en los laboratorios de la herramienta)</a:t>
            </a:r>
            <a:endParaRPr lang="en-C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Explicación de lo que realizó (cómo resolvió los problemas, que potencialidades de la herramienta usó)</a:t>
            </a:r>
            <a:endParaRPr lang="en-C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Principales problemas encontrados para desarrollar la actividades.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Resumen final</a:t>
            </a:r>
            <a:r>
              <a:rPr lang="en-CL" sz="1800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CL" sz="1800" dirty="0">
              <a:solidFill>
                <a:srgbClr val="4D5156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1200"/>
              </a:spcBef>
            </a:pPr>
            <a:r>
              <a:rPr lang="en-CL" sz="2000" b="1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Además, el informe debe contener: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página, en la parte inferior, centrada.</a:t>
            </a:r>
            <a:endParaRPr lang="en-C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L" sz="1800" dirty="0">
                <a:solidFill>
                  <a:srgbClr val="4D515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Imágenes (pantallazos del laboratorio</a:t>
            </a:r>
            <a:r>
              <a:rPr lang="en-CL" sz="1800" dirty="0" smtClean="0">
                <a:solidFill>
                  <a:srgbClr val="4D515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s-ES_tradnl" b="1" dirty="0"/>
          </a:p>
          <a:p>
            <a:pPr marL="0">
              <a:spcBef>
                <a:spcPts val="1200"/>
              </a:spcBef>
            </a:pPr>
            <a:r>
              <a:rPr lang="es-ES_tradnl" sz="2000" b="1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extensión del reporte, considerando la portada, debe ser entre 4 y 8 páginas máximo.</a:t>
            </a:r>
          </a:p>
          <a:p>
            <a:pPr marL="0">
              <a:spcBef>
                <a:spcPts val="1200"/>
              </a:spcBef>
            </a:pPr>
            <a:r>
              <a:rPr lang="es-ES_tradnl" sz="2000" b="1" dirty="0">
                <a:solidFill>
                  <a:srgbClr val="4D5156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promedio de los 4 informes temáticos será un laboratorio más (el último y no se puede borrar).</a:t>
            </a:r>
          </a:p>
        </p:txBody>
      </p:sp>
    </p:spTree>
    <p:extLst>
      <p:ext uri="{BB962C8B-B14F-4D97-AF65-F5344CB8AC3E}">
        <p14:creationId xmlns:p14="http://schemas.microsoft.com/office/powerpoint/2010/main" val="2235416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E16C9-3263-93DB-B42A-A36115F4E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Sobre las notas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E682-84E9-0A8F-5A25-AA9209E5B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7580"/>
          </a:xfrm>
        </p:spPr>
        <p:txBody>
          <a:bodyPr>
            <a:normAutofit fontScale="92500"/>
          </a:bodyPr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Cada laboratorio tiene una nota (calculada según lámina anterior)</a:t>
            </a:r>
          </a:p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Por cada 4 notas, se elimina la más baja de ellas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A745A1-C62F-7D4B-CBAC-037048203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747176"/>
              </p:ext>
            </p:extLst>
          </p:nvPr>
        </p:nvGraphicFramePr>
        <p:xfrm>
          <a:off x="3892177" y="3022600"/>
          <a:ext cx="3251200" cy="578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79083389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1661836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48099092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6622994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10797194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3485716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4422553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91295543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Lab 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Lab 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Lab 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Lab 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Lab 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Lab 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Lab 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Lab 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24227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>
                          <a:effectLst/>
                        </a:rPr>
                        <a:t>7</a:t>
                      </a:r>
                      <a:endParaRPr lang="en-C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>
                          <a:effectLst/>
                        </a:rPr>
                        <a:t>6,5</a:t>
                      </a:r>
                      <a:endParaRPr lang="en-C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>
                          <a:effectLst/>
                        </a:rPr>
                        <a:t>4</a:t>
                      </a:r>
                      <a:endParaRPr lang="en-C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>
                          <a:effectLst/>
                        </a:rPr>
                        <a:t>5,5</a:t>
                      </a:r>
                      <a:endParaRPr lang="en-C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>
                          <a:effectLst/>
                        </a:rPr>
                        <a:t>3</a:t>
                      </a:r>
                      <a:endParaRPr lang="en-C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>
                          <a:effectLst/>
                        </a:rPr>
                        <a:t>7</a:t>
                      </a:r>
                      <a:endParaRPr lang="en-C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>
                          <a:effectLst/>
                        </a:rPr>
                        <a:t>5,5</a:t>
                      </a:r>
                      <a:endParaRPr lang="en-C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L" sz="1200" u="none" strike="noStrike" dirty="0">
                          <a:effectLst/>
                        </a:rPr>
                        <a:t>4,4</a:t>
                      </a:r>
                      <a:endParaRPr lang="en-C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2372133"/>
                  </a:ext>
                </a:extLst>
              </a:tr>
            </a:tbl>
          </a:graphicData>
        </a:graphic>
      </p:graphicFrame>
      <p:sp>
        <p:nvSpPr>
          <p:cNvPr id="7" name="Right Brace 6">
            <a:extLst>
              <a:ext uri="{FF2B5EF4-FFF2-40B4-BE49-F238E27FC236}">
                <a16:creationId xmlns:a16="http://schemas.microsoft.com/office/drawing/2014/main" id="{D1CBB4E9-71A6-E9ED-DBCF-A720E11FE179}"/>
              </a:ext>
            </a:extLst>
          </p:cNvPr>
          <p:cNvSpPr/>
          <p:nvPr/>
        </p:nvSpPr>
        <p:spPr>
          <a:xfrm rot="5400000">
            <a:off x="4557345" y="2832868"/>
            <a:ext cx="287638" cy="161797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96B6F83-53B1-A362-7453-93ADA613468D}"/>
              </a:ext>
            </a:extLst>
          </p:cNvPr>
          <p:cNvSpPr/>
          <p:nvPr/>
        </p:nvSpPr>
        <p:spPr>
          <a:xfrm rot="5400000">
            <a:off x="6190571" y="2832868"/>
            <a:ext cx="287638" cy="161797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CA90D-E6AF-7366-A33E-03204FE0F3AF}"/>
              </a:ext>
            </a:extLst>
          </p:cNvPr>
          <p:cNvSpPr txBox="1"/>
          <p:nvPr/>
        </p:nvSpPr>
        <p:spPr>
          <a:xfrm>
            <a:off x="3992989" y="3804654"/>
            <a:ext cx="1416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/>
              <a:t>Se elimina Lab3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3F598-3719-A404-D2A2-8D9F36278115}"/>
              </a:ext>
            </a:extLst>
          </p:cNvPr>
          <p:cNvSpPr txBox="1"/>
          <p:nvPr/>
        </p:nvSpPr>
        <p:spPr>
          <a:xfrm>
            <a:off x="5626215" y="3804654"/>
            <a:ext cx="1416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/>
              <a:t>Se elimina Lab5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3E50D52-6368-DFCE-A58B-6B5AD1003600}"/>
              </a:ext>
            </a:extLst>
          </p:cNvPr>
          <p:cNvSpPr txBox="1">
            <a:spLocks/>
          </p:cNvSpPr>
          <p:nvPr/>
        </p:nvSpPr>
        <p:spPr>
          <a:xfrm>
            <a:off x="931224" y="4329339"/>
            <a:ext cx="10515600" cy="1881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600" dirty="0">
                <a:latin typeface="Arial" panose="020B0604020202020204" pitchFamily="34" charset="0"/>
                <a:cs typeface="Arial" panose="020B0604020202020204" pitchFamily="34" charset="0"/>
              </a:rPr>
              <a:t>Para aprobar: promedio de laboratorios, eliminando según regla anterior, mayor o igual a 4.0</a:t>
            </a:r>
          </a:p>
        </p:txBody>
      </p:sp>
    </p:spTree>
    <p:extLst>
      <p:ext uri="{BB962C8B-B14F-4D97-AF65-F5344CB8AC3E}">
        <p14:creationId xmlns:p14="http://schemas.microsoft.com/office/powerpoint/2010/main" val="1410315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C17C-1D05-C41C-7ACF-791CE4BBF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b="1" dirty="0">
                <a:latin typeface="Arial" panose="020B0604020202020204" pitchFamily="34" charset="0"/>
                <a:cs typeface="Arial" panose="020B0604020202020204" pitchFamily="34" charset="0"/>
              </a:rPr>
              <a:t>Sobre la forma de relacionarnos…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4A96-FFE6-A183-17E3-40A92E9BA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Ambiente de respeto mutuo.</a:t>
            </a:r>
          </a:p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Favor leer reglamento de la escuela con respecto a:</a:t>
            </a:r>
          </a:p>
          <a:p>
            <a:pPr lvl="1"/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Copias.</a:t>
            </a:r>
          </a:p>
          <a:p>
            <a:pPr lvl="1"/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Acoso.</a:t>
            </a:r>
          </a:p>
          <a:p>
            <a:pPr lvl="1"/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Diversidad.</a:t>
            </a:r>
          </a:p>
          <a:p>
            <a:pPr lvl="1"/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(documentos que serán compartidos en u-campus)</a:t>
            </a:r>
          </a:p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Cualquier problema se puede conversar, procurar hacerlo a la brevedad de la ocurrencia del evento.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87113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AFD8AE-2E43-C044-6347-0F908F07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¿Dudas?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783F3-84BE-8601-736C-89884B48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03075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497A-D47B-A214-8B0C-04B44C5F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ES_tradnl" dirty="0"/>
              <a:t>Problemas con la cuenta CEC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14F30-8102-D2FC-E999-1458BD15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s-ES_tradnl" dirty="0"/>
              <a:t>https://</a:t>
            </a:r>
            <a:r>
              <a:rPr lang="es-ES_tradnl" dirty="0" err="1"/>
              <a:t>servicios.cec.uchile.cl</a:t>
            </a:r>
            <a:r>
              <a:rPr lang="es-ES_tradnl" dirty="0"/>
              <a:t>/mechones/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47C2A6-7D96-7EE2-C2F5-7CD715507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51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pic>
        <p:nvPicPr>
          <p:cNvPr id="5" name="Picture 4" descr="CEC">
            <a:extLst>
              <a:ext uri="{FF2B5EF4-FFF2-40B4-BE49-F238E27FC236}">
                <a16:creationId xmlns:a16="http://schemas.microsoft.com/office/drawing/2014/main" id="{F6AC8F27-185F-3A0E-CAD6-A0326C2ED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74" y="3686202"/>
            <a:ext cx="5534526" cy="86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18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F139-62B9-EA04-2881-081C68CD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Paradoja del cumpleaños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A4B95-862E-C7BD-7C67-721258030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¿Qué número de personas se requiere para que con un X% de probabilidad tener al menos 2 de cumpleaños el mismo día?</a:t>
            </a:r>
          </a:p>
          <a:p>
            <a:endParaRPr lang="es-ES_tradnl" dirty="0"/>
          </a:p>
          <a:p>
            <a:pPr marL="0" indent="0">
              <a:buNone/>
            </a:pPr>
            <a:r>
              <a:rPr lang="es-ES_tradnl" dirty="0"/>
              <a:t>Si somos </a:t>
            </a:r>
            <a:r>
              <a:rPr lang="es-ES_tradnl" dirty="0" smtClean="0"/>
              <a:t>n personas, </a:t>
            </a:r>
            <a:r>
              <a:rPr lang="es-ES_tradnl" dirty="0"/>
              <a:t>la probabilidad de tener 2 personas de cumpleaños el mismo día es …</a:t>
            </a:r>
          </a:p>
        </p:txBody>
      </p:sp>
    </p:spTree>
    <p:extLst>
      <p:ext uri="{BB962C8B-B14F-4D97-AF65-F5344CB8AC3E}">
        <p14:creationId xmlns:p14="http://schemas.microsoft.com/office/powerpoint/2010/main" val="112724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Paradoja del cumpleaños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711" y="1690688"/>
            <a:ext cx="10515600" cy="4351338"/>
          </a:xfrm>
        </p:spPr>
        <p:txBody>
          <a:bodyPr>
            <a:normAutofit/>
          </a:bodyPr>
          <a:lstStyle/>
          <a:p>
            <a:r>
              <a:rPr lang="es-CL" sz="3600" dirty="0"/>
              <a:t>¿Probabilidad?</a:t>
            </a:r>
          </a:p>
          <a:p>
            <a:r>
              <a:rPr lang="es-CL" sz="3600" dirty="0"/>
              <a:t>Es la esperanza de proporción de casos “favorables” sobre el total de casos</a:t>
            </a:r>
          </a:p>
          <a:p>
            <a:r>
              <a:rPr lang="es-CL" sz="3600" dirty="0"/>
              <a:t>Ejemplo: probabilidad de que lanzando moneda al aire salga “cara”: 0,5</a:t>
            </a:r>
          </a:p>
        </p:txBody>
      </p:sp>
    </p:spTree>
    <p:extLst>
      <p:ext uri="{BB962C8B-B14F-4D97-AF65-F5344CB8AC3E}">
        <p14:creationId xmlns:p14="http://schemas.microsoft.com/office/powerpoint/2010/main" val="380041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E916-FB00-584C-841D-7518827A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Cálculo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CC9F-5D64-B646-8EE0-7D1787B09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/>
              <a:t>Conceptos previos</a:t>
            </a:r>
          </a:p>
          <a:p>
            <a:endParaRPr lang="es-ES_tradnl" dirty="0"/>
          </a:p>
          <a:p>
            <a:r>
              <a:rPr lang="es-ES_tradnl" dirty="0"/>
              <a:t>P(A) = casos favorables / casos posibles</a:t>
            </a:r>
          </a:p>
          <a:p>
            <a:pPr lvl="1"/>
            <a:r>
              <a:rPr lang="es-ES_tradnl" dirty="0"/>
              <a:t>P(sacar 6 al lanzar dado) = 1/6</a:t>
            </a:r>
          </a:p>
          <a:p>
            <a:r>
              <a:rPr lang="es-ES_tradnl" dirty="0"/>
              <a:t>P(A) = 1 – P (no A)</a:t>
            </a:r>
          </a:p>
          <a:p>
            <a:r>
              <a:rPr lang="es-ES_tradnl" dirty="0"/>
              <a:t>P(A y B) = P(A)*P(B) </a:t>
            </a:r>
          </a:p>
          <a:p>
            <a:pPr lvl="1"/>
            <a:r>
              <a:rPr lang="es-ES_tradnl" dirty="0"/>
              <a:t>A Y B son eventos independientes</a:t>
            </a:r>
            <a:r>
              <a:rPr lang="es-ES_tradnl" dirty="0" smtClean="0"/>
              <a:t>.</a:t>
            </a:r>
          </a:p>
          <a:p>
            <a:r>
              <a:rPr lang="es-CL" dirty="0"/>
              <a:t>p : probabilidad de no-choque-cumpleaños</a:t>
            </a:r>
          </a:p>
          <a:p>
            <a:r>
              <a:rPr lang="es-CL" dirty="0"/>
              <a:t>p(1) = 1</a:t>
            </a:r>
          </a:p>
          <a:p>
            <a:r>
              <a:rPr lang="es-CL" dirty="0"/>
              <a:t>p(n) = p(n-1) * (365+1-n) / 365</a:t>
            </a:r>
          </a:p>
          <a:p>
            <a:endParaRPr lang="es-ES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084088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4411-F8A9-3140-BBAD-61589D84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Probabilidad que nadie cumpla el mismo </a:t>
            </a:r>
            <a:r>
              <a:rPr lang="es-ES_tradnl" dirty="0" err="1"/>
              <a:t>dia</a:t>
            </a:r>
            <a:r>
              <a:rPr lang="es-ES_tradnl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87857-C5EB-7243-AC1D-33A56317F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_tradnl" sz="2400" dirty="0"/>
              <a:t>N=2; 364/365</a:t>
            </a:r>
          </a:p>
          <a:p>
            <a:pPr marL="0" indent="0">
              <a:buNone/>
            </a:pPr>
            <a:r>
              <a:rPr lang="es-ES_tradnl" sz="2400" dirty="0"/>
              <a:t>N=3; 364/365 * 363/365</a:t>
            </a:r>
          </a:p>
          <a:p>
            <a:pPr marL="0" indent="0">
              <a:buNone/>
            </a:pPr>
            <a:r>
              <a:rPr lang="es-ES_tradnl" sz="2400" dirty="0"/>
              <a:t>N=4; 364/365 * 363/365 * 362/365</a:t>
            </a:r>
          </a:p>
          <a:p>
            <a:pPr marL="0" indent="0">
              <a:buNone/>
            </a:pPr>
            <a:r>
              <a:rPr lang="es-ES_tradnl" sz="2400" dirty="0"/>
              <a:t>.</a:t>
            </a:r>
          </a:p>
          <a:p>
            <a:pPr marL="0" indent="0">
              <a:buNone/>
            </a:pPr>
            <a:r>
              <a:rPr lang="es-ES_tradnl" sz="2400" dirty="0"/>
              <a:t>.</a:t>
            </a:r>
          </a:p>
          <a:p>
            <a:pPr marL="0" indent="0">
              <a:buNone/>
            </a:pPr>
            <a:r>
              <a:rPr lang="es-ES_tradnl" sz="2400" dirty="0"/>
              <a:t>.</a:t>
            </a:r>
          </a:p>
          <a:p>
            <a:pPr marL="0" indent="0">
              <a:buNone/>
            </a:pPr>
            <a:r>
              <a:rPr lang="es-ES_tradnl" sz="2400" dirty="0"/>
              <a:t>N=n; 364/365 * 363/365 * 362/365 * … * (365-n+1) / 365</a:t>
            </a:r>
          </a:p>
          <a:p>
            <a:pPr marL="0" indent="0">
              <a:buNone/>
            </a:pPr>
            <a:endParaRPr lang="es-ES_tradnl" sz="2400" dirty="0"/>
          </a:p>
          <a:p>
            <a:pPr marL="0" indent="0">
              <a:buNone/>
            </a:pPr>
            <a:r>
              <a:rPr lang="es-ES_tradnl" sz="2400" dirty="0"/>
              <a:t>P(n no coincidan) = 364/365 * 363/365 * 362/365 * … * (365-n+1) / 365</a:t>
            </a:r>
          </a:p>
          <a:p>
            <a:pPr marL="0" indent="0">
              <a:buNone/>
            </a:pPr>
            <a:r>
              <a:rPr lang="es-ES_tradnl" sz="2400" dirty="0"/>
              <a:t>P(n) = 1 – P(n no coincidan)</a:t>
            </a:r>
          </a:p>
        </p:txBody>
      </p:sp>
    </p:spTree>
    <p:extLst>
      <p:ext uri="{BB962C8B-B14F-4D97-AF65-F5344CB8AC3E}">
        <p14:creationId xmlns:p14="http://schemas.microsoft.com/office/powerpoint/2010/main" val="2804571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Utilizando el computador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68867" y="1588558"/>
            <a:ext cx="10515600" cy="4351338"/>
          </a:xfrm>
        </p:spPr>
        <p:txBody>
          <a:bodyPr>
            <a:noAutofit/>
          </a:bodyPr>
          <a:lstStyle/>
          <a:p>
            <a:r>
              <a:rPr lang="es-CL" sz="3200" dirty="0"/>
              <a:t>Podríamos escribir un </a:t>
            </a:r>
            <a:r>
              <a:rPr lang="es-CL" sz="3200" dirty="0">
                <a:solidFill>
                  <a:srgbClr val="FF0000"/>
                </a:solidFill>
              </a:rPr>
              <a:t>programa </a:t>
            </a:r>
            <a:r>
              <a:rPr lang="es-CL" sz="3200" dirty="0"/>
              <a:t>para hacer el cálculo…</a:t>
            </a:r>
          </a:p>
          <a:p>
            <a:r>
              <a:rPr lang="es-CL" sz="3200" dirty="0" smtClean="0"/>
              <a:t>O podríamos utilizar </a:t>
            </a:r>
            <a:r>
              <a:rPr lang="es-CL" sz="3200" dirty="0"/>
              <a:t>una </a:t>
            </a:r>
            <a:r>
              <a:rPr lang="es-CL" sz="3200" dirty="0">
                <a:solidFill>
                  <a:srgbClr val="C00000"/>
                </a:solidFill>
              </a:rPr>
              <a:t>herramienta </a:t>
            </a:r>
            <a:r>
              <a:rPr lang="es-CL" sz="3200" dirty="0" smtClean="0">
                <a:solidFill>
                  <a:srgbClr val="C00000"/>
                </a:solidFill>
              </a:rPr>
              <a:t>computacional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332741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E535B-E629-9F27-D6C7-2CA4FB8D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Graficamente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D2A7D-3D94-84C2-4E98-03468667C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E66608BC-DBCB-E4C6-BCA7-E46454E47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12094"/>
            <a:ext cx="10414000" cy="49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527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5DE3-5D1C-2FBC-2963-CD941D6F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¿Cómo calcularlo?</a:t>
            </a:r>
          </a:p>
        </p:txBody>
      </p:sp>
      <p:pic>
        <p:nvPicPr>
          <p:cNvPr id="5" name="Content Placeholder 4" descr="A table with numbers and a green line&#10;&#10;Description automatically generated with medium confidence">
            <a:extLst>
              <a:ext uri="{FF2B5EF4-FFF2-40B4-BE49-F238E27FC236}">
                <a16:creationId xmlns:a16="http://schemas.microsoft.com/office/drawing/2014/main" id="{5F57B787-571E-8023-C8CC-8B80DD673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1322" y="3354527"/>
            <a:ext cx="1778000" cy="28321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582536-B950-C8D5-D6AB-CF297FF8A119}"/>
              </a:ext>
            </a:extLst>
          </p:cNvPr>
          <p:cNvSpPr txBox="1"/>
          <p:nvPr/>
        </p:nvSpPr>
        <p:spPr>
          <a:xfrm>
            <a:off x="6096000" y="3893414"/>
            <a:ext cx="436850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'Num. </a:t>
            </a:r>
            <a:r>
              <a:rPr lang="en-US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probabilidad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p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range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80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):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   p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p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(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366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/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365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   print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f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'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{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p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)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:.3f}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)</a:t>
            </a:r>
          </a:p>
          <a:p>
            <a:endParaRPr lang="es-ES_trad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A55833-F2C1-5E83-335A-E52AC2A6CB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30"/>
          <a:stretch/>
        </p:blipFill>
        <p:spPr>
          <a:xfrm>
            <a:off x="4416294" y="1690688"/>
            <a:ext cx="3721921" cy="95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39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Otros Ejemplos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L" dirty="0"/>
                  <a:t>Mostrar que la suma de los serie 1/2+1/4+1/8+1/16… tiende a 1</a:t>
                </a:r>
              </a:p>
              <a:p>
                <a:r>
                  <a:rPr lang="es-CL" dirty="0"/>
                  <a:t>Calcular y graficar los términos de la sucesión de Fibonacci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C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CL" i="1">
                        <a:latin typeface="Cambria Math" panose="02040503050406030204" pitchFamily="18" charset="0"/>
                      </a:rPr>
                      <m:t>=0                </m:t>
                    </m:r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C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L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CL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L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CL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s-CL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CL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726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Otros Ejemplos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Graficar la función f(x) = x</a:t>
            </a:r>
            <a:r>
              <a:rPr lang="es-CL" baseline="30000" dirty="0"/>
              <a:t>2 </a:t>
            </a:r>
            <a:r>
              <a:rPr lang="es-CL" dirty="0"/>
              <a:t>+ x +5 y encontrar las raíces </a:t>
            </a:r>
          </a:p>
          <a:p>
            <a:r>
              <a:rPr lang="es-CL" dirty="0"/>
              <a:t>Hágalo en forma visual </a:t>
            </a:r>
          </a:p>
          <a:p>
            <a:r>
              <a:rPr lang="es-CL" dirty="0"/>
              <a:t>(esto sirve para cuando la función es mucho </a:t>
            </a:r>
            <a:r>
              <a:rPr lang="es-CL"/>
              <a:t>mas complicada)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7756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4188</TotalTime>
  <Words>1157</Words>
  <Application>Microsoft Office PowerPoint</Application>
  <PresentationFormat>Panorámica</PresentationFormat>
  <Paragraphs>144</Paragraphs>
  <Slides>21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Calibri</vt:lpstr>
      <vt:lpstr>Cambria Math</vt:lpstr>
      <vt:lpstr>Menlo</vt:lpstr>
      <vt:lpstr>Times New Roman</vt:lpstr>
      <vt:lpstr>Office Theme</vt:lpstr>
      <vt:lpstr>Presentación de PowerPoint</vt:lpstr>
      <vt:lpstr>El Equipo</vt:lpstr>
      <vt:lpstr>El curso: CC1000</vt:lpstr>
      <vt:lpstr>Propósito del curso</vt:lpstr>
      <vt:lpstr>Unidades</vt:lpstr>
      <vt:lpstr>Cada laboratorio …</vt:lpstr>
      <vt:lpstr>Post Laboratorio</vt:lpstr>
      <vt:lpstr>Informe temático</vt:lpstr>
      <vt:lpstr>Sobre las notas</vt:lpstr>
      <vt:lpstr>Sobre la forma de relacionarnos…</vt:lpstr>
      <vt:lpstr>¿Dudas?</vt:lpstr>
      <vt:lpstr>Problemas con la cuenta CEC</vt:lpstr>
      <vt:lpstr>Paradoja del cumpleaños</vt:lpstr>
      <vt:lpstr>Paradoja del cumpleaños</vt:lpstr>
      <vt:lpstr>Cálculo</vt:lpstr>
      <vt:lpstr>Probabilidad que nadie cumpla el mismo dia.</vt:lpstr>
      <vt:lpstr>Utilizando el computador</vt:lpstr>
      <vt:lpstr>Graficamente</vt:lpstr>
      <vt:lpstr>¿Cómo calcularlo?</vt:lpstr>
      <vt:lpstr>Otros Ejemplos</vt:lpstr>
      <vt:lpstr>Otros Ejemplos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Godoy Vega</dc:creator>
  <cp:lastModifiedBy>Nelson B.</cp:lastModifiedBy>
  <cp:revision>20</cp:revision>
  <dcterms:created xsi:type="dcterms:W3CDTF">2024-03-05T21:09:19Z</dcterms:created>
  <dcterms:modified xsi:type="dcterms:W3CDTF">2026-03-10T12:33:05Z</dcterms:modified>
</cp:coreProperties>
</file>